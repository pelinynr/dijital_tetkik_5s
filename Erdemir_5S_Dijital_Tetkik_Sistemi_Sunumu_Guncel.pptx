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d64d2e457d4bd7" /><Relationship Type="http://schemas.openxmlformats.org/officeDocument/2006/relationships/extended-properties" Target="/docProps/app.xml" Id="R6d1c9c5912f14967" /><Relationship Type="http://schemas.openxmlformats.org/officeDocument/2006/relationships/officeDocument" Target="/ppt/presentation.xml" Id="R3e672a3ce0fa4b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7593ec34b74ac9"/>
  </p:sldMasterIdLst>
  <p:notesMasterIdLst>
    <p:notesMasterId xmlns:r="http://schemas.openxmlformats.org/officeDocument/2006/relationships" r:id="Re928b5c4be204f0c"/>
  </p:notesMasterIdLst>
  <p:sldIdLst>
    <p:sldId xmlns:r="http://schemas.openxmlformats.org/officeDocument/2006/relationships" id="256" r:id="R1fab1b70a7434c95"/>
    <p:sldId xmlns:r="http://schemas.openxmlformats.org/officeDocument/2006/relationships" id="257" r:id="R62988ff65ed845b9"/>
    <p:sldId xmlns:r="http://schemas.openxmlformats.org/officeDocument/2006/relationships" id="258" r:id="Rd1d8e2cdebe74137"/>
    <p:sldId xmlns:r="http://schemas.openxmlformats.org/officeDocument/2006/relationships" id="259" r:id="Re51e8dbb5ec64ec8"/>
    <p:sldId xmlns:r="http://schemas.openxmlformats.org/officeDocument/2006/relationships" id="260" r:id="R92cad894c8ef4b41"/>
    <p:sldId xmlns:r="http://schemas.openxmlformats.org/officeDocument/2006/relationships" id="261" r:id="Rfdb2f9ffdf9947f3"/>
    <p:sldId xmlns:r="http://schemas.openxmlformats.org/officeDocument/2006/relationships" id="262" r:id="R6d684b678911444a"/>
    <p:sldId xmlns:r="http://schemas.openxmlformats.org/officeDocument/2006/relationships" id="263" r:id="R35e24694e36f4c3f"/>
    <p:sldId xmlns:r="http://schemas.openxmlformats.org/officeDocument/2006/relationships" id="264" r:id="R6d47d831b4ab49ca"/>
    <p:sldId xmlns:r="http://schemas.openxmlformats.org/officeDocument/2006/relationships" id="265" r:id="R83ab85179bda40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ca88c00bcd401a" /><Relationship Type="http://schemas.openxmlformats.org/officeDocument/2006/relationships/slideMaster" Target="/ppt/slideMasters/slideMaster1.xml" Id="Rfe7593ec34b74ac9" /><Relationship Type="http://schemas.openxmlformats.org/officeDocument/2006/relationships/notesMaster" Target="/ppt/notesMasters/notesMaster1.xml" Id="Re928b5c4be204f0c" /><Relationship Type="http://schemas.openxmlformats.org/officeDocument/2006/relationships/presProps" Target="/ppt/presProps.xml" Id="R7c9ee0a2106d423f" /><Relationship Type="http://schemas.openxmlformats.org/officeDocument/2006/relationships/viewProps" Target="/ppt/viewProps.xml" Id="R645f913f382142ab" /><Relationship Type="http://schemas.openxmlformats.org/officeDocument/2006/relationships/tableStyles" Target="/ppt/tableStyles.xml" Id="R48ac38d7163c42da" /><Relationship Type="http://schemas.openxmlformats.org/officeDocument/2006/relationships/slide" Target="/ppt/slides/slide1.xml" Id="R1fab1b70a7434c95" /><Relationship Type="http://schemas.openxmlformats.org/officeDocument/2006/relationships/slide" Target="/ppt/slides/slide2.xml" Id="R62988ff65ed845b9" /><Relationship Type="http://schemas.openxmlformats.org/officeDocument/2006/relationships/slide" Target="/ppt/slides/slide3.xml" Id="Rd1d8e2cdebe74137" /><Relationship Type="http://schemas.openxmlformats.org/officeDocument/2006/relationships/slide" Target="/ppt/slides/slide4.xml" Id="Re51e8dbb5ec64ec8" /><Relationship Type="http://schemas.openxmlformats.org/officeDocument/2006/relationships/slide" Target="/ppt/slides/slide5.xml" Id="R92cad894c8ef4b41" /><Relationship Type="http://schemas.openxmlformats.org/officeDocument/2006/relationships/slide" Target="/ppt/slides/slide6.xml" Id="Rfdb2f9ffdf9947f3" /><Relationship Type="http://schemas.openxmlformats.org/officeDocument/2006/relationships/slide" Target="/ppt/slides/slide7.xml" Id="R6d684b678911444a" /><Relationship Type="http://schemas.openxmlformats.org/officeDocument/2006/relationships/slide" Target="/ppt/slides/slide8.xml" Id="R35e24694e36f4c3f" /><Relationship Type="http://schemas.openxmlformats.org/officeDocument/2006/relationships/slide" Target="/ppt/slides/slide9.xml" Id="R6d47d831b4ab49ca" /><Relationship Type="http://schemas.openxmlformats.org/officeDocument/2006/relationships/slide" Target="/ppt/slides/slide10.xml" Id="R83ab85179bda40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5a47f3546344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is Teması">
  <a:themeElements>
    <a:clrScheme name="Ofis Teması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is Teması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is Teması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3248c5c3014c28" /><Relationship Type="http://schemas.openxmlformats.org/officeDocument/2006/relationships/notesMaster" Target="/ppt/notesMasters/notesMaster1.xml" Id="R86900236c91341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4c9ed1912c4a01" /><Relationship Type="http://schemas.openxmlformats.org/officeDocument/2006/relationships/notesMaster" Target="/ppt/notesMasters/notesMaster1.xml" Id="Re749e7a5023d41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ea50c4502c44f5" /><Relationship Type="http://schemas.openxmlformats.org/officeDocument/2006/relationships/notesMaster" Target="/ppt/notesMasters/notesMaster1.xml" Id="R9217e703d2634d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ab87c311044d42" /><Relationship Type="http://schemas.openxmlformats.org/officeDocument/2006/relationships/notesMaster" Target="/ppt/notesMasters/notesMaster1.xml" Id="Rcda033727d9f47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6d75d336cc4cfc" /><Relationship Type="http://schemas.openxmlformats.org/officeDocument/2006/relationships/notesMaster" Target="/ppt/notesMasters/notesMaster1.xml" Id="R37df141598734f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a14f33c8224ad2" /><Relationship Type="http://schemas.openxmlformats.org/officeDocument/2006/relationships/notesMaster" Target="/ppt/notesMasters/notesMaster1.xml" Id="Rcc2b0790097242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e1884d06a04cd9" /><Relationship Type="http://schemas.openxmlformats.org/officeDocument/2006/relationships/notesMaster" Target="/ppt/notesMasters/notesMaster1.xml" Id="Racbf78b918dd4b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e52ece4ce84ab2" /><Relationship Type="http://schemas.openxmlformats.org/officeDocument/2006/relationships/notesMaster" Target="/ppt/notesMasters/notesMaster1.xml" Id="R7544ef4c9ec34b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aeb3fd006e4a4d" /><Relationship Type="http://schemas.openxmlformats.org/officeDocument/2006/relationships/notesMaster" Target="/ppt/notesMasters/notesMaster1.xml" Id="Rf2dd8ea0653242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e42416d21745c3" /><Relationship Type="http://schemas.openxmlformats.org/officeDocument/2006/relationships/notesMaster" Target="/ppt/notesMasters/notesMaster1.xml" Id="R49fcae7244f24d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Erdemir Dijital 5S Tetkik Sistemi proje akışı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ab39aa0af471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d4e3f3e094eec" /><Relationship Type="http://schemas.openxmlformats.org/officeDocument/2006/relationships/image" Target="/ppt/media/image.png" Id="Rd37d39cb0bab4e2b" /><Relationship Type="http://schemas.openxmlformats.org/officeDocument/2006/relationships/image" Target="/ppt/media/image2.jpeg" Id="Rd08254cd2f1444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bd4830a9cc4db7" /><Relationship Type="http://schemas.openxmlformats.org/officeDocument/2006/relationships/image" Target="/ppt/media/image.png" Id="R41dca471e9d8445b" /><Relationship Type="http://schemas.openxmlformats.org/officeDocument/2006/relationships/image" Target="/ppt/media/image3.jpeg" Id="R03ee88c02a38404f" /></Relationships>
</file>

<file path=ppt/slideLayouts/slideLayout1.xml><?xml version="1.0" encoding="utf-8"?>
<p:sldLayout xmlns:p="http://schemas.openxmlformats.org/presentationml/2006/main">
  <p:cSld name="Başlık Slaydı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ayt Numarası">
            <a:extLst xmlns:a="http://schemas.openxmlformats.org/drawingml/2006/main">
              <a:ext uri="{FF2B5EF4-FFF2-40B4-BE49-F238E27FC236}">
                <a16:creationId xmlns:a16="http://schemas.microsoft.com/office/drawing/2014/main" id="{C219C5DD-E786-4C23-8C62-F5022047101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>
  <p:cSld name="Başlık ve İçe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Düz Bağlayıcı 6">
            <a:extLst xmlns:a="http://schemas.openxmlformats.org/drawingml/2006/main">
              <a:ext uri="{FF2B5EF4-FFF2-40B4-BE49-F238E27FC236}">
                <a16:creationId xmlns:a16="http://schemas.microsoft.com/office/drawing/2014/main" id="{6756AF42-2235-4DF0-8930-CDB97607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19935" y="836712"/>
            <a:ext cx="1" cy="54006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000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layt Numarası">
            <a:extLst xmlns:a="http://schemas.openxmlformats.org/drawingml/2006/main">
              <a:ext uri="{FF2B5EF4-FFF2-40B4-BE49-F238E27FC236}">
                <a16:creationId xmlns:a16="http://schemas.microsoft.com/office/drawing/2014/main" id="{784467D8-4BF8-4E4F-B3CB-3173D98EA30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pic>
        <p:nvPicPr>
          <p:cNvPr id="28" name="Resi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d39cb0bab4e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3351" y="5949279"/>
            <a:ext cx="2340001" cy="70868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29" name="Resim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254cd2f1444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473" y="2466012"/>
            <a:ext cx="3867758" cy="2142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showMasterSp="0">
  <p:cSld name="1_Başlık ve İçe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övde Düzeyi Bir…">
            <a:extLst xmlns:a="http://schemas.openxmlformats.org/drawingml/2006/main">
              <a:ext uri="{FF2B5EF4-FFF2-40B4-BE49-F238E27FC236}">
                <a16:creationId xmlns:a16="http://schemas.microsoft.com/office/drawing/2014/main" id="{53CF3CEE-CCC5-42BA-BC2D-E7C7957180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31438" y="1486801"/>
            <a:ext cx="10129126" cy="4462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spcBef>
                <a:spcPts val="600"/>
              </a:spcBef>
              <a:buClr>
                <a:srgbClr val="FF0000"/>
              </a:buClr>
              <a:buChar char="&gt;"/>
              <a:defRPr sz="2600" b="1">
                <a:latin typeface="Arial"/>
                <a:ea typeface="Arial"/>
                <a:cs typeface="Arial"/>
              </a:defRPr>
            </a:lvl1pPr>
            <a:lvl2pPr marL="952500" indent="-495300">
              <a:spcBef>
                <a:spcPts val="600"/>
              </a:spcBef>
              <a:buClr>
                <a:srgbClr val="FF0000"/>
              </a:buClr>
              <a:buChar char="&gt;"/>
              <a:defRPr sz="2600" b="1">
                <a:latin typeface="Arial"/>
                <a:ea typeface="Arial"/>
                <a:cs typeface="Arial"/>
              </a:defRPr>
            </a:lvl2pPr>
            <a:lvl3pPr marL="1184563" indent="-270163">
              <a:spcBef>
                <a:spcPts val="600"/>
              </a:spcBef>
              <a:buClr>
                <a:srgbClr val="FF0000"/>
              </a:buClr>
              <a:buChar char="&gt;"/>
              <a:defRPr sz="2600" b="1">
                <a:latin typeface="Arial"/>
                <a:ea typeface="Arial"/>
                <a:cs typeface="Arial"/>
              </a:defRPr>
            </a:lvl3pPr>
            <a:lvl4pPr marL="1668779" indent="-297179">
              <a:spcBef>
                <a:spcPts val="600"/>
              </a:spcBef>
              <a:buClr>
                <a:srgbClr val="FF0000"/>
              </a:buClr>
              <a:buChar char="&gt;"/>
              <a:defRPr sz="2600" b="1">
                <a:latin typeface="Arial"/>
                <a:ea typeface="Arial"/>
                <a:cs typeface="Arial"/>
              </a:defRPr>
            </a:lvl4pPr>
            <a:lvl5pPr marL="2178423" indent="-349623">
              <a:spcBef>
                <a:spcPts val="600"/>
              </a:spcBef>
              <a:buClr>
                <a:srgbClr val="FF0000"/>
              </a:buClr>
              <a:buChar char="&gt;"/>
              <a:defRPr sz="2600" b="1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r>
              <a:t>Gövde Düzeyi Bir</a:t>
            </a:r>
          </a:p>
          <a:p xmlns:a="http://schemas.openxmlformats.org/drawingml/2006/main">
            <a:pPr lvl="1">
              <a:buNone/>
            </a:pPr>
            <a:r>
              <a:t>Gövde Düzeyi İki</a:t>
            </a:r>
          </a:p>
          <a:p xmlns:a="http://schemas.openxmlformats.org/drawingml/2006/main">
            <a:pPr lvl="2">
              <a:buNone/>
            </a:pPr>
            <a:r>
              <a:t>Gövde Düzeyi Üç</a:t>
            </a:r>
          </a:p>
          <a:p xmlns:a="http://schemas.openxmlformats.org/drawingml/2006/main">
            <a:pPr lvl="3">
              <a:buNone/>
            </a:pPr>
            <a:r>
              <a:t>Gövde Düzeyi Dört</a:t>
            </a:r>
          </a:p>
          <a:p xmlns:a="http://schemas.openxmlformats.org/drawingml/2006/main">
            <a:pPr lvl="4">
              <a:buNone/>
            </a:pPr>
            <a:r>
              <a:t>Gövde Düzeyi Beş</a:t>
            </a:r>
          </a:p>
        </p:txBody>
      </p:sp>
      <p:sp>
        <p:nvSpPr>
          <p:cNvPr id="31" name="Başlık Metni">
            <a:extLst xmlns:a="http://schemas.openxmlformats.org/drawingml/2006/main">
              <a:ext uri="{FF2B5EF4-FFF2-40B4-BE49-F238E27FC236}">
                <a16:creationId xmlns:a16="http://schemas.microsoft.com/office/drawing/2014/main" id="{8236A7C7-AB66-4E55-B810-4BD9B9D598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l">
              <a:buNone/>
              <a:defRPr sz="28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Başlık Metni</a:t>
            </a:r>
          </a:p>
        </p:txBody>
      </p:sp>
      <p:sp>
        <p:nvSpPr>
          <p:cNvPr id="33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1609F8AF-D38A-4826-A937-5DD71FC4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13" y="6454459"/>
            <a:ext cx="1" cy="40354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Box 17">
            <a:extLst xmlns:a="http://schemas.openxmlformats.org/drawingml/2006/main">
              <a:ext uri="{FF2B5EF4-FFF2-40B4-BE49-F238E27FC236}">
                <a16:creationId xmlns:a16="http://schemas.microsoft.com/office/drawing/2014/main" id="{9172FA1B-C9E2-4E99-9559-80A6D083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133" y="6477105"/>
            <a:ext cx="739762" cy="22698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>
            <a:spAutoFit/>
          </a:bodyPr>
          <a:lstStyle xmlns:a="http://schemas.openxmlformats.org/drawingml/2006/main">
            <a:lvl1pPr>
              <a:buNone/>
              <a:defRPr sz="1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12.10.2020</a:t>
            </a:r>
          </a:p>
        </p:txBody>
      </p:sp>
      <p:sp>
        <p:nvSpPr>
          <p:cNvPr id="35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B4A07E15-7309-4455-850A-E04C7200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04875"/>
            <a:ext cx="10566401" cy="1589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A6A6A6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3" name="Resi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ca471e9d844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25999" y="5995406"/>
            <a:ext cx="2340001" cy="70868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B5518F36-06AB-F83E-71CE-C68D5F54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61" y="6477105"/>
            <a:ext cx="554032" cy="27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DD7CB05-DB1B-4650-9601-5E3162A2AAF1}" type="slidenum">
              <a:rPr sz="1200" b="0" i="0" u="non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lt"/>
                <a:cs typeface="+mj-lt"/>
              </a:rPr>
              <a:t>‹#›</a:t>
            </a:fld>
            <a:r>
              <a:rPr sz="1200" b="0" i="0" u="non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lt"/>
                <a:cs typeface="+mj-lt"/>
              </a:rPr>
              <a:t>/3</a:t>
            </a:r>
          </a:p>
        </p:txBody>
      </p:sp>
      <p:pic>
        <p:nvPicPr>
          <p:cNvPr id="45" name="Resim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e88c02a3840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25336" y="133201"/>
            <a:ext cx="1300088" cy="72000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e7e5bea06734a7d" /><Relationship Type="http://schemas.openxmlformats.org/officeDocument/2006/relationships/image" Target="/ppt/media/image.jpeg" Id="Rb3db9247b8244e3d" /><Relationship Type="http://schemas.openxmlformats.org/officeDocument/2006/relationships/theme" Target="/ppt/slideMasters/theme/theme2.xml" Id="R2957f5eca55d4a8e" /><Relationship Type="http://schemas.openxmlformats.org/officeDocument/2006/relationships/slideLayout" Target="/ppt/slideLayouts/slideLayout1.xml" Id="R77df8fb1db8c4084" /><Relationship Type="http://schemas.openxmlformats.org/officeDocument/2006/relationships/slideLayout" Target="/ppt/slideLayouts/slideLayout2.xml" Id="R0d876025638d4188" /><Relationship Type="http://schemas.openxmlformats.org/officeDocument/2006/relationships/slideLayout" Target="/ppt/slideLayouts/slideLayout3.xml" Id="Rd70b1f4e9e584d5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aşlık Metni">
            <a:extLst xmlns:a="http://schemas.openxmlformats.org/drawingml/2006/main">
              <a:ext uri="{FF2B5EF4-FFF2-40B4-BE49-F238E27FC236}">
                <a16:creationId xmlns:a16="http://schemas.microsoft.com/office/drawing/2014/main" id="{3971DE41-5ECD-447A-8158-300DB6E29E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2074"/>
            <a:ext cx="10972800" cy="150812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r>
              <a:t>Başlık Metni</a:t>
            </a:r>
          </a:p>
        </p:txBody>
      </p:sp>
      <p:sp>
        <p:nvSpPr>
          <p:cNvPr id="5" name="Gövde Düzeyi Bir…">
            <a:extLst xmlns:a="http://schemas.openxmlformats.org/drawingml/2006/main">
              <a:ext uri="{FF2B5EF4-FFF2-40B4-BE49-F238E27FC236}">
                <a16:creationId xmlns:a16="http://schemas.microsoft.com/office/drawing/2014/main" id="{EED0588C-001B-4C6E-81A2-A36E9DB787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0"/>
            <a:ext cx="10972800" cy="5257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r>
              <a:t>Gövde Düzeyi Bir</a:t>
            </a:r>
          </a:p>
          <a:p xmlns:a="http://schemas.openxmlformats.org/drawingml/2006/main">
            <a:pPr lvl="1">
              <a:buNone/>
            </a:pPr>
            <a:r>
              <a:t>Gövde Düzeyi İki</a:t>
            </a:r>
          </a:p>
          <a:p xmlns:a="http://schemas.openxmlformats.org/drawingml/2006/main">
            <a:pPr lvl="2">
              <a:buNone/>
            </a:pPr>
            <a:r>
              <a:t>Gövde Düzeyi Üç</a:t>
            </a:r>
          </a:p>
          <a:p xmlns:a="http://schemas.openxmlformats.org/drawingml/2006/main">
            <a:pPr lvl="3">
              <a:buNone/>
            </a:pPr>
            <a:r>
              <a:t>Gövde Düzeyi Dört</a:t>
            </a:r>
          </a:p>
          <a:p xmlns:a="http://schemas.openxmlformats.org/drawingml/2006/main">
            <a:pPr lvl="4">
              <a:buNone/>
            </a:pPr>
            <a:r>
              <a:t>Gövde Düzeyi Beş</a:t>
            </a:r>
          </a:p>
        </p:txBody>
      </p:sp>
      <p:sp>
        <p:nvSpPr>
          <p:cNvPr id="6" name="Slayt Numarası">
            <a:extLst xmlns:a="http://schemas.openxmlformats.org/drawingml/2006/main">
              <a:ext uri="{FF2B5EF4-FFF2-40B4-BE49-F238E27FC236}">
                <a16:creationId xmlns:a16="http://schemas.microsoft.com/office/drawing/2014/main" id="{67FD7D12-AFD3-42B6-A259-EF83ADBAD4A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5892800" y="6172200"/>
            <a:ext cx="2844800" cy="3683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1200"/>
            </a:lvl1pPr>
          </a:lstStyle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pic>
        <p:nvPicPr>
          <p:cNvPr id="12" name="Resi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e5bea06734a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3351" y="5949279"/>
            <a:ext cx="2340001" cy="70868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13" name="Resim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b9247b8244e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8328" y="2007000"/>
            <a:ext cx="5135344" cy="28440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df8fb1db8c4084"/>
    <p:sldLayoutId xmlns:r="http://schemas.openxmlformats.org/officeDocument/2006/relationships" id="2147483650" r:id="R0d876025638d4188"/>
    <p:sldLayoutId xmlns:r="http://schemas.openxmlformats.org/officeDocument/2006/relationships" id="2147483651" r:id="Rd70b1f4e9e584d5f"/>
  </p:sldLayoutIdLst>
  <p:txStyles>
    <p:titleStyle>
      <a:lvl1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1pPr>
      <a:lvl2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2pPr>
      <a:lvl3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3pPr>
      <a:lvl4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4pPr>
      <a:lvl5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5pPr>
      <a:lvl6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6pPr>
      <a:lvl7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7pPr>
      <a:lvl8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8pPr>
      <a:lvl9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9pPr>
    </p:titleStyle>
    <p:bodyStyle>
      <a:lvl1pPr xmlns:a="http://schemas.openxmlformats.org/drawingml/2006/main" marL="342900" marR="0" indent="-34290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1pPr>
      <a:lvl2pPr xmlns:a="http://schemas.openxmlformats.org/drawingml/2006/main" marL="783771" marR="0" indent="-326571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2pPr>
      <a:lvl3pPr xmlns:a="http://schemas.openxmlformats.org/drawingml/2006/main" marL="1219200" marR="0" indent="-30480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3pPr>
      <a:lvl4pPr xmlns:a="http://schemas.openxmlformats.org/drawingml/2006/main" marL="17373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4pPr>
      <a:lvl5pPr xmlns:a="http://schemas.openxmlformats.org/drawingml/2006/main" marL="21945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5pPr>
      <a:lvl6pPr xmlns:a="http://schemas.openxmlformats.org/drawingml/2006/main" marL="26517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6pPr>
      <a:lvl7pPr xmlns:a="http://schemas.openxmlformats.org/drawingml/2006/main" marL="31089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7pPr>
      <a:lvl8pPr xmlns:a="http://schemas.openxmlformats.org/drawingml/2006/main" marL="3566159" marR="0" indent="-365759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8pPr>
      <a:lvl9pPr xmlns:a="http://schemas.openxmlformats.org/drawingml/2006/main" marL="4023359" marR="0" indent="-365759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is Teması">
  <a:themeElements>
    <a:clrScheme name="Ofis Teması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is Teması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is Teması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9fe7476bd84ab3" /><Relationship Type="http://schemas.openxmlformats.org/officeDocument/2006/relationships/notesSlide" Target="/ppt/notesSlides/notesSlide1.xml" Id="Re94ca8b6808f4a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f27f75bb59434a" /><Relationship Type="http://schemas.openxmlformats.org/officeDocument/2006/relationships/notesSlide" Target="/ppt/notesSlides/notesSlide2.xml" Id="R1312c748d7fa41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49efaae9dd4dd5" /><Relationship Type="http://schemas.openxmlformats.org/officeDocument/2006/relationships/notesSlide" Target="/ppt/notesSlides/notesSlide3.xml" Id="Rfb0ae3e033c746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50290c5a2f1443e" /><Relationship Type="http://schemas.openxmlformats.org/officeDocument/2006/relationships/notesSlide" Target="/ppt/notesSlides/notesSlide4.xml" Id="Ra42dcd79aab44b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b9e3aa3e5847a8" /><Relationship Type="http://schemas.openxmlformats.org/officeDocument/2006/relationships/notesSlide" Target="/ppt/notesSlides/notesSlide5.xml" Id="R2a82ac6aa66b4a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12a5c4c00246bd" /><Relationship Type="http://schemas.openxmlformats.org/officeDocument/2006/relationships/notesSlide" Target="/ppt/notesSlides/notesSlide6.xml" Id="Rb8473b9e729344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b666fd5fecb4b14" /><Relationship Type="http://schemas.openxmlformats.org/officeDocument/2006/relationships/notesSlide" Target="/ppt/notesSlides/notesSlide7.xml" Id="R9c2079b8f3ab40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da7e6bf6474757" /><Relationship Type="http://schemas.openxmlformats.org/officeDocument/2006/relationships/notesSlide" Target="/ppt/notesSlides/notesSlide8.xml" Id="R8b19fb64639946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c98685c58e41ff" /><Relationship Type="http://schemas.openxmlformats.org/officeDocument/2006/relationships/notesSlide" Target="/ppt/notesSlides/notesSlide9.xml" Id="R5d1b5d177aa24f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2871ecfd284bdb" /><Relationship Type="http://schemas.openxmlformats.org/officeDocument/2006/relationships/notesSlide" Target="/ppt/notesSlides/notesSlide10.xml" Id="Rb76c75957ab348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extBox 1">
            <a:extLst xmlns:a="http://schemas.openxmlformats.org/drawingml/2006/main">
              <a:ext uri="{FF2B5EF4-FFF2-40B4-BE49-F238E27FC236}">
                <a16:creationId xmlns:a16="http://schemas.microsoft.com/office/drawing/2014/main" id="{0A96E3C0-C3AA-4954-A384-3DF378C8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736" y="2699394"/>
            <a:ext cx="3652977" cy="11277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400" b="1">
                <a:latin typeface="Arial"/>
                <a:ea typeface="Arial"/>
                <a:cs typeface="Arial"/>
              </a:defRPr>
            </a:pPr>
            <a:r>
              <a:t>Dijital 5S Tetkik Sistemi</a:t>
            </a:r>
            <a:endParaRPr/>
          </a:p>
        </p:txBody>
      </p:sp>
      <p:sp>
        <p:nvSpPr>
          <p:cNvPr id="4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0D48AB6-0D4B-46BF-8BE9-5FF48CCB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735" y="3998595"/>
            <a:ext cx="3687075" cy="13234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1">
                <a:latin typeface="Arial"/>
                <a:ea typeface="Arial"/>
                <a:cs typeface="Arial"/>
              </a:defRPr>
            </a:pPr>
            <a:r>
              <a:t>Pelin YENER</a:t>
            </a:r>
          </a:p>
          <a:p xmlns:a="http://schemas.openxmlformats.org/drawingml/2006/main">
            <a:pPr>
              <a:buNone/>
              <a:defRPr sz="2000">
                <a:latin typeface="Arial-Light"/>
                <a:ea typeface="Arial-Light"/>
                <a:cs typeface="Arial-Light"/>
              </a:defRPr>
            </a:pPr>
            <a:r>
              <a:t>ERP ve Çevresel Uygulamalar Müdürlüğü</a:t>
            </a:r>
          </a:p>
          <a:p xmlns:a="http://schemas.openxmlformats.org/drawingml/2006/main">
            <a:pPr>
              <a:buNone/>
              <a:defRPr sz="2000" i="1">
                <a:latin typeface="Arial"/>
                <a:ea typeface="Arial"/>
                <a:cs typeface="Arial"/>
              </a:defRPr>
            </a:pPr>
            <a:r>
              <a:t>29.08.2026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00729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5S nedir?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5S; çalışma alanını daha güvenli, düzenli ve verimli hâle getiren, iyileştirmeyi kalıcılaştıran bir yönetim yaklaşımıdır.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C02F4C-FA34-44CD-B40F-ADF6CFE8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AYIKLA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1A9613-16EB-481E-AD7A-7AF91539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86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464F70-2A3C-4F60-A78E-8960C615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DÜZENLE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FB1F60-CB1B-4217-8985-D0D88907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1B71E1-A730-4651-9673-7C1425FE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TEMİZLE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97F3D7-AE9F-4C66-99E1-6F326026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86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0CC008-8062-4C10-B74D-76D73E44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STANDARTLAŞTIR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E0EA379-7B81-40C9-8BB9-66E37492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86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6A0989-EE5C-412D-A8DF-5A3C7CE0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SÜRDÜR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4B4CB8B-980B-49ED-A03E-86A42C53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52875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Amaç: güvenli, temiz, düzenli ve sürekli geliştirilen çalışma alanları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Neden bu projeye ihtiyaç duyuldu?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Kağıt ve dağınık dosyalarla yürüyen tetkiklerde görev, kanıt, süre ve sonuç takibini tek noktadan yapmak zordu.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4BAA84-A749-4324-A13D-8D01957D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300037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8E3E1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MEVCUT SORUN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Kağıt / Excel takibi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Dağınık fotoğraf ve kayıtlar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Geciken görev ve onaylar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Alan bazlı görünürlük eksikliği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2C4454-1EDC-4325-A001-D91E9D78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32BCB9-098B-46A7-A31F-FBD064A3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38375"/>
            <a:ext cx="528637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İHTİYAÇ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Tek merkezden planlanan, sorumlusu belli,</a:t>
            </a:r>
          </a:p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fotoğrafla kanıtlanan ve sonucu 100 puan</a:t>
            </a:r>
          </a:p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üzerinden ölçülen dijital bir tetkik süreci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ERP ve Çevresel Uygulamalara katkısı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Sistem; tetkik verisini standartlaştırır, iyileştirme takibini hızlandırır ve yönetime güvenilir bir izleme altyapısı sağlar.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6CB75A-9956-4B41-A93F-2DA9A3F2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STANDARDİZASYON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Müdürlüklerde ortak tetkik dili ve kayıt düzeni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57789A-9983-4EAD-82B1-4B7F0EC0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İZLENEBİLİRLİK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Kriterden kapanışa kadar zaman ve sorumluluk kaydı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691792-1367-42CF-8246-D7A03671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KARAR DESTEĞİ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Alan puanları, geçmiş sonuçlar ve açık görevler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40A8B4-944C-46D2-AE04-4A90A59A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SÜREKLİ İYİLEŞTİRME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Tekrarlayan uygunsuzlukları görme ve önlem alma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Geliştirdiğim çözüm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Rol ve müdürlük bazlı çalışan web sistemi; tetkiki planlamadan uygunsuzluğun kapanışına kadar bütün süreci birleştirir.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A5C18F-A1DC-4B07-96EE-AC906C63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38375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ALAN BAZLI YÖNETİM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Her müdürlük kendi kriter, kullanıcı ve sonuçlarını görür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501E17-A55E-43EA-B4DC-7A7B2CCD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MOBİL TETKİK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QR ile açılan kriterler Uygun / Uygun Değil olarak değerlendirilir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9E666E-ED06-470B-BDDD-442562B4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38375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KANITLI DÜZELTME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Öncesi-sonrası fotoğrafı, açıklama, bildirim ve onay birlikte tutulur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Çözüm nasıl çalışıyor?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Her adım doğru kullanıcıya atanır; QR, fotoğraf, açıklama, bildirim ve onay kayıtları aynı süreçte ilerler.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F3B3EF-4F5D-4BA1-8880-C6B4D233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Yönetici kriteri, dönemi ve tetkikçiyi tanımlar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2F712C-4F90-4F59-AFB6-1DF52195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95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5C47D7-CE0D-45DE-8F86-1DC4E0B5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33625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2</a:t>
            </a:r>
          </a:p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SAHA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Tetkikçi QR ile kontrolü açar ve sonucu kaydeder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F03DA0-AA2E-4EB5-9B10-C5E3E764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95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B863944-E3B9-4BC0-A70D-B347698B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3</a:t>
            </a:r>
          </a:p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DÜZELTME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Alan sorumlusu açıklama ve fotoğrafla çözümü belgeler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CC28949-605B-4D1F-BF26-399D14DF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95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33ABDA-45A5-406A-A1CE-D48AB922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33625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4</a:t>
            </a:r>
          </a:p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KARAR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Yönetici kanıtı onaylar veya gerekçeyle iade eder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Uçtan uca iş akışı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Tetkik, sahadaki kontrolden başlayarak kanıtlı düzeltme ve yönetici kararıyla tamamlanan kapalı bir döngüdür.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9E7DBE-31FD-4E09-8A5F-DAD3FA28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KRİTER VE PLAN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EE2320-C4C0-497D-878F-0C2D8EE9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76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C6CEBC-5B56-4403-AF57-D9AD0C18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QR İLE BAŞLA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74F585-1D0C-43EE-9401-69250C11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76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A5A687-F2E7-48A2-8431-B08C2B48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UYGUN / UYGUN DEĞİL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E7A149-C605-490E-BFD9-CEA84988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76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0F6B4BF-67AC-4B8F-9AB8-78CF6364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FOTOĞRAFLA VE ATA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53515C-7E1F-43FA-B3A7-028E0231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5D3345A-7032-41A6-8261-A552F498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DÜZELT VE BELGELE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568BF9-7DF2-4B2E-9FA6-001836CE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CEFA81-CD1D-4671-B23D-2AF33A87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ONAYLA / İADE ET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A767AE5-E3A8-4967-87BC-99314075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Onaylanan düzeltme veritabanına kaydedilir ve tetkik tamamlanır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Yetki ve sorumluluklar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Her rol yalnızca kendi görevini ve sorumlu olduğu müdürlüğü görür; global yönetici tüm sistemi izleyebilir.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0E5961-79C0-4DAF-BBF6-68A46B04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342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GLOBAL YÖNETİCİ — tüm sistemi görür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6242F9-ECEA-4855-9DAD-661A97B7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MÜDÜRLÜK YÖNETİCİSİ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Kriter • plan • tetkikçi • onay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8D19C1-BBD2-49A6-B091-89DD16C1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8137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8E3E1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TETKİKÇİ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QR • değerlendirme • fotoğraf • sorumlu atama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AE136D-FB51-4356-8889-79925597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ALAN SORUMLUSU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Düzeltme • açıklama • sonrası fotoğraf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DF8C83-A7AF-4CB7-9907-07DFB5DC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714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Kullanılan teknolojiler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Kullanıcı arayüzü, iş kurallarını yöneten servis ve kalıcı veri katmanı birlikte çalışan bir yapı olarak geliştirildi.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44E134-E9F8-40F5-91B0-B8B1BB7D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FRONTEND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React + TypeScript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Kullanıcı arayüzü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2E2D78-243C-42B1-A232-CFD82161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BACKEND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 + Spring Boot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Yetki ve iş akışları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89A7D0-590E-4B4A-BAF7-019D26F2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VERİTABANI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Kalıcı kayıt ve raporlama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A134C7-B942-4C3B-B7F2-7F6A9940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ARAÇLAR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VS Code • pgAdmin • GitHub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Geliştirme ve sürüm yönetimi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Sonuç: ölçülebilir ve sürdürülebilir iyileştirme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Çözüm; 5S çalışmalarını görünür, karşılaştırılabilir, kanıtlanabilir ve sürekli geliştirilebilir hâle getirir.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263BFA-6266-4CF5-8A5C-B1660D8F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ÖLÇÜLEBİLİR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100 puanlık sonuç ve alan bazlı göstergeler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5FC7FE-74BC-490F-A82D-14C6B91A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İZLENEBİLİR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Kim, ne zaman, hangi işlemi yaptı?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745900-5059-4700-B05D-9FA99CC3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KANITLANABİLİR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Fotoğraf, açıklama ve onay kaydı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D15EBE-6944-4D3A-82F9-5927D2D0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98754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SÜRDÜRÜLEBİLİR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Geçmişten öğrenen sürekli iyileştirme döngüsü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theme/theme1.xml><?xml version="1.0" encoding="utf-8"?>
<a:theme xmlns:a="http://schemas.openxmlformats.org/drawingml/2006/main" name="Ofis Teması">
  <a:themeElements>
    <a:clrScheme name="Ofis Teması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is Teması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is Teması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2026-08-29T13:35:27.5380000Z</dcterms:created>
  <dcterms:modified xsi:type="dcterms:W3CDTF">2026-08-29T13:35:27.5390000Z</dcterms:modified>
</coreProperties>
</file>